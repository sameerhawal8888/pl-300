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8" r:id="rId3"/>
    <p:sldId id="259" r:id="rId4"/>
    <p:sldId id="260" r:id="rId5"/>
    <p:sldId id="262" r:id="rId6"/>
    <p:sldId id="261"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28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7B78BC-F984-4525-8CB5-5DE4D9C88F60}" type="datetimeFigureOut">
              <a:rPr lang="en-IN" smtClean="0"/>
              <a:t>04-06-2025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5060F-55FE-4BDD-9A03-37BB6B1B0644}" type="slidenum">
              <a:rPr lang="en-IN" smtClean="0"/>
              <a:t>‹#›</a:t>
            </a:fld>
            <a:endParaRPr lang="en-IN"/>
          </a:p>
        </p:txBody>
      </p:sp>
    </p:spTree>
    <p:extLst>
      <p:ext uri="{BB962C8B-B14F-4D97-AF65-F5344CB8AC3E}">
        <p14:creationId xmlns:p14="http://schemas.microsoft.com/office/powerpoint/2010/main" val="299921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15060F-55FE-4BDD-9A03-37BB6B1B0644}" type="slidenum">
              <a:rPr lang="en-IN" smtClean="0"/>
              <a:t>1</a:t>
            </a:fld>
            <a:endParaRPr lang="en-IN"/>
          </a:p>
        </p:txBody>
      </p:sp>
    </p:spTree>
    <p:extLst>
      <p:ext uri="{BB962C8B-B14F-4D97-AF65-F5344CB8AC3E}">
        <p14:creationId xmlns:p14="http://schemas.microsoft.com/office/powerpoint/2010/main" val="36578376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6A404608-BE4F-4114-B2AE-F8B42BAA17D3}" type="datetimeFigureOut">
              <a:rPr lang="en-IN" smtClean="0"/>
              <a:t>04-06-2025</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144472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04608-BE4F-4114-B2AE-F8B42BAA17D3}" type="datetimeFigureOut">
              <a:rPr lang="en-IN" smtClean="0"/>
              <a:t>04-06-2025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850366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6A404608-BE4F-4114-B2AE-F8B42BAA17D3}" type="datetimeFigureOut">
              <a:rPr lang="en-IN" smtClean="0"/>
              <a:t>04-06-2025</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3428015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332147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404608-BE4F-4114-B2AE-F8B42BAA17D3}" type="datetimeFigureOut">
              <a:rPr lang="en-IN" smtClean="0"/>
              <a:t>04-06-2025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111134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404608-BE4F-4114-B2AE-F8B42BAA17D3}" type="datetimeFigureOut">
              <a:rPr lang="en-IN" smtClean="0"/>
              <a:t>04-06-2025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120551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04608-BE4F-4114-B2AE-F8B42BAA17D3}" type="datetimeFigureOut">
              <a:rPr lang="en-IN" smtClean="0"/>
              <a:t>04-06-2025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3363358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3657226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825918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3868185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844632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FEABE47-6A44-4B79-A32F-B7FE450197E4}"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85728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6A404608-BE4F-4114-B2AE-F8B42BAA17D3}" type="datetimeFigureOut">
              <a:rPr lang="en-IN" smtClean="0"/>
              <a:t>04-06-2025</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295303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A404608-BE4F-4114-B2AE-F8B42BAA17D3}" type="datetimeFigureOut">
              <a:rPr lang="en-IN" smtClean="0"/>
              <a:t>04-06-2025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2655554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A404608-BE4F-4114-B2AE-F8B42BAA17D3}" type="datetimeFigureOut">
              <a:rPr lang="en-IN" smtClean="0"/>
              <a:t>04-06-2025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4866458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04608-BE4F-4114-B2AE-F8B42BAA17D3}" type="datetimeFigureOut">
              <a:rPr lang="en-IN" smtClean="0"/>
              <a:t>04-06-2025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821086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6A404608-BE4F-4114-B2AE-F8B42BAA17D3}" type="datetimeFigureOut">
              <a:rPr lang="en-IN" smtClean="0"/>
              <a:t>04-06-2025</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1FEABE47-6A44-4B79-A32F-B7FE450197E4}" type="slidenum">
              <a:rPr lang="en-IN" smtClean="0"/>
              <a:t>‹#›</a:t>
            </a:fld>
            <a:endParaRPr lang="en-IN"/>
          </a:p>
        </p:txBody>
      </p:sp>
    </p:spTree>
    <p:extLst>
      <p:ext uri="{BB962C8B-B14F-4D97-AF65-F5344CB8AC3E}">
        <p14:creationId xmlns:p14="http://schemas.microsoft.com/office/powerpoint/2010/main" val="4285969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A404608-BE4F-4114-B2AE-F8B42BAA17D3}" type="datetimeFigureOut">
              <a:rPr lang="en-IN" smtClean="0"/>
              <a:t>04-06-2025</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FEABE47-6A44-4B79-A32F-B7FE450197E4}" type="slidenum">
              <a:rPr lang="en-IN" smtClean="0"/>
              <a:t>‹#›</a:t>
            </a:fld>
            <a:endParaRPr lang="en-IN"/>
          </a:p>
        </p:txBody>
      </p:sp>
    </p:spTree>
    <p:extLst>
      <p:ext uri="{BB962C8B-B14F-4D97-AF65-F5344CB8AC3E}">
        <p14:creationId xmlns:p14="http://schemas.microsoft.com/office/powerpoint/2010/main" val="41806077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DB50-0E4A-903C-D097-B3E13106EEBC}"/>
              </a:ext>
            </a:extLst>
          </p:cNvPr>
          <p:cNvSpPr>
            <a:spLocks noGrp="1"/>
          </p:cNvSpPr>
          <p:nvPr>
            <p:ph type="ctrTitle"/>
          </p:nvPr>
        </p:nvSpPr>
        <p:spPr/>
        <p:txBody>
          <a:bodyPr/>
          <a:lstStyle/>
          <a:p>
            <a:r>
              <a:rPr lang="en-US" dirty="0"/>
              <a:t>TRAVEL BOOKING SYSTEM</a:t>
            </a:r>
            <a:endParaRPr lang="en-IN" dirty="0"/>
          </a:p>
        </p:txBody>
      </p:sp>
    </p:spTree>
    <p:extLst>
      <p:ext uri="{BB962C8B-B14F-4D97-AF65-F5344CB8AC3E}">
        <p14:creationId xmlns:p14="http://schemas.microsoft.com/office/powerpoint/2010/main" val="2907566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4EAE7-BA05-E370-F830-90D8AC8F9E77}"/>
              </a:ext>
            </a:extLst>
          </p:cNvPr>
          <p:cNvSpPr>
            <a:spLocks noGrp="1"/>
          </p:cNvSpPr>
          <p:nvPr>
            <p:ph idx="1"/>
          </p:nvPr>
        </p:nvSpPr>
        <p:spPr>
          <a:xfrm>
            <a:off x="277402" y="636998"/>
            <a:ext cx="11228798" cy="5938463"/>
          </a:xfrm>
        </p:spPr>
        <p:txBody>
          <a:bodyPr>
            <a:normAutofit fontScale="70000" lnSpcReduction="20000"/>
          </a:bodyPr>
          <a:lstStyle/>
          <a:p>
            <a:pPr lvl="0"/>
            <a:r>
              <a:rPr lang="en-US" sz="2400" b="1" dirty="0"/>
              <a:t>Introduction</a:t>
            </a:r>
            <a:endParaRPr lang="en-IN" sz="1200" dirty="0"/>
          </a:p>
          <a:p>
            <a:pPr lvl="1"/>
            <a:r>
              <a:rPr lang="en-US" b="1" dirty="0"/>
              <a:t>A. Problem Definition:</a:t>
            </a:r>
            <a:endParaRPr lang="en-IN" sz="1600" dirty="0"/>
          </a:p>
          <a:p>
            <a:pPr lvl="2"/>
            <a:r>
              <a:rPr lang="en-US" b="1" dirty="0"/>
              <a:t>Insight: Clearly articulate the pain points in the current travel booking process. This could involve:</a:t>
            </a:r>
            <a:endParaRPr lang="en-IN" sz="1400" dirty="0"/>
          </a:p>
          <a:p>
            <a:pPr lvl="3"/>
            <a:r>
              <a:rPr lang="en-US" b="1" dirty="0"/>
              <a:t>Fragmentation: Users having to visit multiple websites to compare flights, activities.</a:t>
            </a:r>
            <a:endParaRPr lang="en-IN" sz="1200" dirty="0"/>
          </a:p>
          <a:p>
            <a:pPr lvl="3"/>
            <a:r>
              <a:rPr lang="en-US" b="1" dirty="0"/>
              <a:t>Information Overload: Difficulty in sifting through vast amounts of options and reviews.</a:t>
            </a:r>
            <a:endParaRPr lang="en-IN" sz="1200" dirty="0"/>
          </a:p>
          <a:p>
            <a:pPr lvl="3"/>
            <a:r>
              <a:rPr lang="en-US" b="1" dirty="0"/>
              <a:t>Time Consumption: The lengthy process of searching, comparing, and booking different travel components.</a:t>
            </a:r>
            <a:endParaRPr lang="en-IN" sz="1200" dirty="0"/>
          </a:p>
          <a:p>
            <a:pPr lvl="3"/>
            <a:r>
              <a:rPr lang="en-US" b="1" dirty="0"/>
              <a:t>Trust and Security Concerns: Worries about the reliability of less-known booking platforms.</a:t>
            </a:r>
            <a:endParaRPr lang="en-IN" sz="1200" dirty="0"/>
          </a:p>
          <a:p>
            <a:pPr lvl="2"/>
            <a:r>
              <a:rPr lang="en-US" b="1" dirty="0"/>
              <a:t>Value: A well-defined problem statement justifies the need for your travel booking system and sets the stage for its purpose.</a:t>
            </a:r>
            <a:endParaRPr lang="en-IN" sz="1400" dirty="0"/>
          </a:p>
          <a:p>
            <a:pPr lvl="1"/>
            <a:r>
              <a:rPr lang="en-US" b="1" dirty="0"/>
              <a:t>B. Aim and Objective of the Project:</a:t>
            </a:r>
            <a:endParaRPr lang="en-IN" sz="1600" dirty="0"/>
          </a:p>
          <a:p>
            <a:pPr lvl="2"/>
            <a:r>
              <a:rPr lang="en-US" b="1" dirty="0"/>
              <a:t>Insight: The aim should be the overarching goal (e.g., "To develop a user-friendly and comprehensive online travel booking system"). Objectives should be specific, measurable, achievable, relevant, and time-bound (SMART) steps towards achieving this aim (e.g., "To implement a module for searching and booking flights from at least three major airlines</a:t>
            </a:r>
            <a:endParaRPr lang="en-IN" sz="1400" dirty="0"/>
          </a:p>
          <a:p>
            <a:r>
              <a:rPr lang="en-US" sz="2400" b="1" dirty="0"/>
              <a:t>within the first three months)….</a:t>
            </a:r>
            <a:endParaRPr lang="en-IN" sz="1800" dirty="0"/>
          </a:p>
          <a:p>
            <a:pPr lvl="2"/>
            <a:r>
              <a:rPr lang="en-US" b="1" dirty="0"/>
              <a:t>Value: Clear aims and objectives provide direction and allow for progress tracking and evaluation of the project's success.</a:t>
            </a:r>
            <a:endParaRPr lang="en-IN" sz="1400" dirty="0"/>
          </a:p>
          <a:p>
            <a:pPr lvl="1"/>
            <a:r>
              <a:rPr lang="en-US" b="1" dirty="0"/>
              <a:t>C. Scope and Limitation of the Project:</a:t>
            </a:r>
            <a:endParaRPr lang="en-IN" sz="1600" dirty="0"/>
          </a:p>
          <a:p>
            <a:pPr lvl="2"/>
            <a:r>
              <a:rPr lang="en-US" b="1" dirty="0"/>
              <a:t>Insight: Define what features your system </a:t>
            </a:r>
            <a:r>
              <a:rPr lang="en-US" b="1" i="1" dirty="0"/>
              <a:t>will </a:t>
            </a:r>
            <a:r>
              <a:rPr lang="en-US" b="1" dirty="0"/>
              <a:t>include (scope) and what it </a:t>
            </a:r>
            <a:r>
              <a:rPr lang="en-US" b="1" i="1" dirty="0"/>
              <a:t>will not </a:t>
            </a:r>
            <a:r>
              <a:rPr lang="en-US" b="1" dirty="0"/>
              <a:t>include (limitations) within the given timeframe and resources. Limitations could be excluding car rentals, travel</a:t>
            </a:r>
            <a:endParaRPr lang="en-IN" sz="1400" dirty="0"/>
          </a:p>
          <a:p>
            <a:br>
              <a:rPr lang="en-US" sz="2400" b="1" dirty="0"/>
            </a:br>
            <a:r>
              <a:rPr lang="en-US" sz="2400" b="1" dirty="0"/>
              <a:t>insurance, or integration with specific niche providers in the initial phase.</a:t>
            </a:r>
            <a:endParaRPr lang="en-IN" sz="1800" dirty="0"/>
          </a:p>
          <a:p>
            <a:pPr lvl="2"/>
            <a:r>
              <a:rPr lang="en-US" b="1" dirty="0"/>
              <a:t>Value: A well-defined scope manages expectations and prevents scope creep, ensuring the project remains focused and achievable. Limitations acknowledge constraints and provide context.</a:t>
            </a:r>
            <a:endParaRPr lang="en-IN" sz="1400" dirty="0"/>
          </a:p>
          <a:p>
            <a:r>
              <a:rPr lang="en-US" sz="2400" b="1" dirty="0"/>
              <a:t> </a:t>
            </a:r>
            <a:endParaRPr lang="en-IN" sz="2400" dirty="0"/>
          </a:p>
          <a:p>
            <a:pPr lvl="1"/>
            <a:r>
              <a:rPr lang="en-US" b="1" dirty="0"/>
              <a:t>D. Project Management Plan:</a:t>
            </a:r>
            <a:endParaRPr lang="en-IN" sz="1600" dirty="0"/>
          </a:p>
          <a:p>
            <a:pPr lvl="2"/>
            <a:r>
              <a:rPr lang="en-US" b="1" dirty="0"/>
              <a:t>Insight: Outline how the project will be managed. This includes:</a:t>
            </a:r>
            <a:endParaRPr lang="en-IN" sz="1400" dirty="0"/>
          </a:p>
          <a:p>
            <a:pPr lvl="3"/>
            <a:r>
              <a:rPr lang="en-US" b="1" dirty="0"/>
              <a:t>Team Structure and Roles: Define responsibilities of team members.</a:t>
            </a:r>
            <a:endParaRPr lang="en-IN" sz="1200" dirty="0"/>
          </a:p>
          <a:p>
            <a:pPr lvl="3"/>
            <a:r>
              <a:rPr lang="en-US" b="1" dirty="0"/>
              <a:t>Communication Plan: How will the team communicate (meetings, reports, tools)?</a:t>
            </a:r>
            <a:endParaRPr lang="en-IN" sz="1200" dirty="0"/>
          </a:p>
          <a:p>
            <a:pPr lvl="3"/>
            <a:r>
              <a:rPr lang="en-US" b="1" dirty="0"/>
              <a:t>Risk Management: Identify potential risks (technical, resource-related) and mitigation strategies</a:t>
            </a:r>
            <a:endParaRPr lang="en-IN" sz="1200" dirty="0"/>
          </a:p>
          <a:p>
            <a:pPr lvl="3"/>
            <a:r>
              <a:rPr lang="en-US" b="1" dirty="0"/>
              <a:t>Quality Assurance: How will the quality of the system be ensured?</a:t>
            </a:r>
            <a:endParaRPr lang="en-IN" sz="1200" dirty="0"/>
          </a:p>
          <a:p>
            <a:endParaRPr lang="en-IN" dirty="0"/>
          </a:p>
        </p:txBody>
      </p:sp>
    </p:spTree>
    <p:extLst>
      <p:ext uri="{BB962C8B-B14F-4D97-AF65-F5344CB8AC3E}">
        <p14:creationId xmlns:p14="http://schemas.microsoft.com/office/powerpoint/2010/main" val="353469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E9DFD-7FAE-DF0D-D2ED-84CCC3189F0B}"/>
              </a:ext>
            </a:extLst>
          </p:cNvPr>
          <p:cNvSpPr>
            <a:spLocks noGrp="1"/>
          </p:cNvSpPr>
          <p:nvPr>
            <p:ph idx="1"/>
          </p:nvPr>
        </p:nvSpPr>
        <p:spPr>
          <a:xfrm>
            <a:off x="685800" y="729466"/>
            <a:ext cx="10820400" cy="5489220"/>
          </a:xfrm>
        </p:spPr>
        <p:txBody>
          <a:bodyPr>
            <a:normAutofit/>
          </a:bodyPr>
          <a:lstStyle/>
          <a:p>
            <a:pPr lvl="0"/>
            <a:r>
              <a:rPr lang="en-US" sz="2400" b="1" dirty="0"/>
              <a:t>Background Study and Literature Overview</a:t>
            </a:r>
            <a:endParaRPr lang="en-IN" sz="2400" b="1" dirty="0"/>
          </a:p>
          <a:p>
            <a:pPr lvl="1"/>
            <a:r>
              <a:rPr lang="en-US" dirty="0"/>
              <a:t>a. </a:t>
            </a:r>
            <a:r>
              <a:rPr lang="en-US" b="1" dirty="0"/>
              <a:t>Literature Overview:</a:t>
            </a:r>
            <a:endParaRPr lang="en-IN" sz="1600" dirty="0"/>
          </a:p>
          <a:p>
            <a:pPr lvl="2"/>
            <a:r>
              <a:rPr lang="en-US" b="1" dirty="0"/>
              <a:t>Insight: Research existing online travel booking platforms (e.g., Booking.com, Expedia, book my show, red </a:t>
            </a:r>
            <a:r>
              <a:rPr lang="en-US" b="1" dirty="0" err="1"/>
              <a:t>bus,make</a:t>
            </a:r>
            <a:r>
              <a:rPr lang="en-US" b="1" dirty="0"/>
              <a:t> my trip), academic papers on e-commerce, human- computer interaction in travel, database design for booking systems, and relevant technologies. Understand their features, functionalities, user interfaces, and underlying architectures.</a:t>
            </a:r>
            <a:endParaRPr lang="en-IN" sz="1400" dirty="0"/>
          </a:p>
          <a:p>
            <a:pPr lvl="2"/>
            <a:r>
              <a:rPr lang="en-US" b="1" dirty="0"/>
              <a:t>Value: This provides a theoretical foundation and helps you learn from existing solutions, identify best practices, and avoid reinventing the wheel.</a:t>
            </a:r>
            <a:endParaRPr lang="en-IN" sz="1400" dirty="0"/>
          </a:p>
          <a:p>
            <a:pPr lvl="1"/>
            <a:r>
              <a:rPr lang="en-US" b="1" dirty="0"/>
              <a:t>b. Critical Appraisal of Other People’s Work:</a:t>
            </a:r>
            <a:endParaRPr lang="en-IN" sz="1600" dirty="0"/>
          </a:p>
          <a:p>
            <a:pPr lvl="2"/>
            <a:r>
              <a:rPr lang="en-US" b="1" dirty="0"/>
              <a:t>Insight: Analyze the strengths and weaknesses of the platforms and research you reviewed. What do they do well? Where do they fall short? Are there any usability issues, performance bottlenecks, or missing features that your system could address?</a:t>
            </a:r>
            <a:endParaRPr lang="en-IN" sz="1400" dirty="0"/>
          </a:p>
          <a:p>
            <a:pPr lvl="2"/>
            <a:r>
              <a:rPr lang="en-US" b="1" dirty="0"/>
              <a:t>Value: This demonstrates critical thinking and justifies your project by highlighting the gaps or areas for improvement in existing solutions.</a:t>
            </a:r>
            <a:endParaRPr lang="en-IN" sz="1400" dirty="0"/>
          </a:p>
          <a:p>
            <a:endParaRPr lang="en-IN" dirty="0"/>
          </a:p>
        </p:txBody>
      </p:sp>
    </p:spTree>
    <p:extLst>
      <p:ext uri="{BB962C8B-B14F-4D97-AF65-F5344CB8AC3E}">
        <p14:creationId xmlns:p14="http://schemas.microsoft.com/office/powerpoint/2010/main" val="1248767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1D7684-C339-CD81-A518-3B084321A407}"/>
              </a:ext>
            </a:extLst>
          </p:cNvPr>
          <p:cNvSpPr>
            <a:spLocks noGrp="1"/>
          </p:cNvSpPr>
          <p:nvPr>
            <p:ph idx="1"/>
          </p:nvPr>
        </p:nvSpPr>
        <p:spPr>
          <a:xfrm>
            <a:off x="685800" y="842482"/>
            <a:ext cx="10820400" cy="5376204"/>
          </a:xfrm>
        </p:spPr>
        <p:txBody>
          <a:bodyPr>
            <a:normAutofit fontScale="40000" lnSpcReduction="20000"/>
          </a:bodyPr>
          <a:lstStyle/>
          <a:p>
            <a:pPr lvl="0"/>
            <a:r>
              <a:rPr lang="en-US" sz="2400" b="1" dirty="0"/>
              <a:t>Functional Requirements</a:t>
            </a:r>
            <a:endParaRPr lang="en-IN" sz="1800" dirty="0"/>
          </a:p>
          <a:p>
            <a:r>
              <a:rPr lang="en-US" sz="2400" b="1" dirty="0"/>
              <a:t>A. User-side Functional Requirements:</a:t>
            </a:r>
            <a:endParaRPr lang="en-IN" sz="1800" dirty="0"/>
          </a:p>
          <a:p>
            <a:pPr lvl="0"/>
            <a:r>
              <a:rPr lang="en-US" sz="2400" b="1" dirty="0"/>
              <a:t>User Registration &amp; Login</a:t>
            </a:r>
            <a:endParaRPr lang="en-IN" sz="1800" dirty="0"/>
          </a:p>
          <a:p>
            <a:pPr lvl="1"/>
            <a:r>
              <a:rPr lang="en-US" dirty="0"/>
              <a:t>Users can register using email, phone number, and password.</a:t>
            </a:r>
            <a:endParaRPr lang="en-IN" sz="1600" dirty="0"/>
          </a:p>
          <a:p>
            <a:pPr lvl="1"/>
            <a:r>
              <a:rPr lang="en-US" dirty="0"/>
              <a:t>Users can securely log in and manage their profiles.</a:t>
            </a:r>
            <a:endParaRPr lang="en-IN" sz="1600" dirty="0"/>
          </a:p>
          <a:p>
            <a:pPr lvl="0"/>
            <a:r>
              <a:rPr lang="en-US" sz="2400" b="1" dirty="0"/>
              <a:t>Booking Services</a:t>
            </a:r>
            <a:endParaRPr lang="en-IN" sz="1800" dirty="0"/>
          </a:p>
          <a:p>
            <a:pPr lvl="1"/>
            <a:r>
              <a:rPr lang="en-US" dirty="0"/>
              <a:t>Users can search and book:</a:t>
            </a:r>
            <a:endParaRPr lang="en-IN" sz="1600" dirty="0"/>
          </a:p>
          <a:p>
            <a:pPr lvl="2"/>
            <a:r>
              <a:rPr lang="en-US" b="1" dirty="0"/>
              <a:t>Trains</a:t>
            </a:r>
            <a:endParaRPr lang="en-IN" sz="1400" dirty="0"/>
          </a:p>
          <a:p>
            <a:pPr lvl="2"/>
            <a:r>
              <a:rPr lang="en-US" b="1" dirty="0"/>
              <a:t>Buses</a:t>
            </a:r>
            <a:endParaRPr lang="en-IN" sz="1400" dirty="0"/>
          </a:p>
          <a:p>
            <a:pPr lvl="2"/>
            <a:r>
              <a:rPr lang="en-US" b="1" dirty="0"/>
              <a:t>Flights</a:t>
            </a:r>
            <a:endParaRPr lang="en-IN" sz="1400" dirty="0"/>
          </a:p>
          <a:p>
            <a:pPr lvl="2"/>
            <a:r>
              <a:rPr lang="en-US" b="1" dirty="0"/>
              <a:t>Tours </a:t>
            </a:r>
            <a:r>
              <a:rPr lang="en-US" dirty="0"/>
              <a:t>(e.g., vacation packages)</a:t>
            </a:r>
            <a:endParaRPr lang="en-IN" sz="1400" dirty="0"/>
          </a:p>
          <a:p>
            <a:pPr lvl="0"/>
            <a:r>
              <a:rPr lang="en-US" sz="2400" b="1" dirty="0"/>
              <a:t>Booking History</a:t>
            </a:r>
            <a:endParaRPr lang="en-IN" sz="1800" dirty="0"/>
          </a:p>
          <a:p>
            <a:pPr lvl="1"/>
            <a:r>
              <a:rPr lang="en-US" dirty="0"/>
              <a:t>Users can view all current, past, and canceled booking</a:t>
            </a:r>
            <a:endParaRPr lang="en-IN" sz="1600" dirty="0"/>
          </a:p>
          <a:p>
            <a:r>
              <a:rPr lang="en-US" sz="2400" dirty="0"/>
              <a:t> </a:t>
            </a:r>
            <a:endParaRPr lang="en-IN" sz="2400" dirty="0"/>
          </a:p>
          <a:p>
            <a:pPr lvl="0"/>
            <a:r>
              <a:rPr lang="en-US" sz="2400" b="1" dirty="0"/>
              <a:t>Reviews and Feedbacks System</a:t>
            </a:r>
            <a:endParaRPr lang="en-IN" sz="1800" dirty="0"/>
          </a:p>
          <a:p>
            <a:r>
              <a:rPr lang="en-US" sz="2400" dirty="0"/>
              <a:t>User can send the reviews and feedbacks that the developers fix the bugs and</a:t>
            </a:r>
            <a:endParaRPr lang="en-IN" sz="2400" dirty="0"/>
          </a:p>
          <a:p>
            <a:r>
              <a:rPr lang="en-US" sz="2400" dirty="0"/>
              <a:t>make</a:t>
            </a:r>
            <a:endParaRPr lang="en-IN" sz="2400" dirty="0"/>
          </a:p>
          <a:p>
            <a:r>
              <a:rPr lang="en-US" sz="2400" dirty="0"/>
              <a:t>User interface, experience and features at optimal level.</a:t>
            </a:r>
            <a:endParaRPr lang="en-IN" sz="2400" dirty="0"/>
          </a:p>
          <a:p>
            <a:pPr lvl="0"/>
            <a:br>
              <a:rPr lang="en-US" sz="2800" dirty="0"/>
            </a:br>
            <a:r>
              <a:rPr lang="en-US" sz="2400" b="1" dirty="0"/>
              <a:t>Non-Functional Requirements</a:t>
            </a:r>
            <a:endParaRPr lang="en-IN" sz="2000" dirty="0"/>
          </a:p>
          <a:p>
            <a:pPr lvl="0"/>
            <a:r>
              <a:rPr lang="en-US" sz="2400" b="1" dirty="0"/>
              <a:t>Usability</a:t>
            </a:r>
            <a:endParaRPr lang="en-IN" sz="1800" dirty="0"/>
          </a:p>
          <a:p>
            <a:pPr lvl="0"/>
            <a:r>
              <a:rPr lang="en-US" sz="2400" dirty="0"/>
              <a:t>Intuitive, mobile-friendly interface, responsive</a:t>
            </a:r>
            <a:endParaRPr lang="en-IN" sz="1800" dirty="0"/>
          </a:p>
          <a:p>
            <a:pPr lvl="0"/>
            <a:r>
              <a:rPr lang="en-US" sz="2400" b="1" dirty="0"/>
              <a:t>Performance</a:t>
            </a:r>
            <a:endParaRPr lang="en-IN" sz="1800" dirty="0"/>
          </a:p>
          <a:p>
            <a:pPr lvl="0"/>
            <a:r>
              <a:rPr lang="en-US" sz="2400" dirty="0"/>
              <a:t>Fast search results; system should handle multiple simultaneous users.</a:t>
            </a:r>
            <a:endParaRPr lang="en-IN" sz="1800" dirty="0"/>
          </a:p>
          <a:p>
            <a:pPr lvl="0"/>
            <a:r>
              <a:rPr lang="en-US" sz="2400" b="1" dirty="0"/>
              <a:t>Scalability</a:t>
            </a:r>
            <a:endParaRPr lang="en-IN" sz="1800" dirty="0"/>
          </a:p>
          <a:p>
            <a:r>
              <a:rPr lang="en-US" sz="2400" dirty="0"/>
              <a:t>Ready to support a growing number of users and bookings API integration is now in Undergoing</a:t>
            </a:r>
            <a:r>
              <a:rPr lang="en-US" sz="1800" dirty="0"/>
              <a:t> </a:t>
            </a:r>
            <a:r>
              <a:rPr lang="en-US" sz="2400" dirty="0"/>
              <a:t>process</a:t>
            </a:r>
            <a:r>
              <a:rPr lang="en-US" sz="1800" dirty="0"/>
              <a:t>.</a:t>
            </a:r>
            <a:endParaRPr lang="en-IN" dirty="0"/>
          </a:p>
        </p:txBody>
      </p:sp>
    </p:spTree>
    <p:extLst>
      <p:ext uri="{BB962C8B-B14F-4D97-AF65-F5344CB8AC3E}">
        <p14:creationId xmlns:p14="http://schemas.microsoft.com/office/powerpoint/2010/main" val="113549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
            <a:extLst>
              <a:ext uri="{FF2B5EF4-FFF2-40B4-BE49-F238E27FC236}">
                <a16:creationId xmlns:a16="http://schemas.microsoft.com/office/drawing/2014/main" id="{EFD7B308-4CCE-0E03-80E5-DDCF52EB90D7}"/>
              </a:ext>
            </a:extLst>
          </p:cNvPr>
          <p:cNvPicPr>
            <a:picLocks noGrp="1"/>
          </p:cNvPicPr>
          <p:nvPr>
            <p:ph idx="1"/>
          </p:nvPr>
        </p:nvPicPr>
        <p:blipFill>
          <a:blip r:embed="rId2" cstate="print"/>
          <a:stretch>
            <a:fillRect/>
          </a:stretch>
        </p:blipFill>
        <p:spPr>
          <a:xfrm>
            <a:off x="2795752" y="483476"/>
            <a:ext cx="5470059" cy="5703231"/>
          </a:xfrm>
          <a:prstGeom prst="rect">
            <a:avLst/>
          </a:prstGeom>
        </p:spPr>
      </p:pic>
    </p:spTree>
    <p:extLst>
      <p:ext uri="{BB962C8B-B14F-4D97-AF65-F5344CB8AC3E}">
        <p14:creationId xmlns:p14="http://schemas.microsoft.com/office/powerpoint/2010/main" val="209609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8AB9BD6-14CF-5C45-76E0-B16BF88B5EFD}"/>
              </a:ext>
            </a:extLst>
          </p:cNvPr>
          <p:cNvSpPr>
            <a:spLocks noGrp="1"/>
          </p:cNvSpPr>
          <p:nvPr>
            <p:ph idx="1"/>
          </p:nvPr>
        </p:nvSpPr>
        <p:spPr>
          <a:xfrm>
            <a:off x="685800" y="725214"/>
            <a:ext cx="10820400" cy="5493471"/>
          </a:xfrm>
        </p:spPr>
        <p:txBody>
          <a:bodyPr/>
          <a:lstStyle/>
          <a:p>
            <a:r>
              <a:rPr lang="en-US" b="1" dirty="0"/>
              <a:t>5. Implementation Details</a:t>
            </a:r>
            <a:endParaRPr lang="en-IN" dirty="0"/>
          </a:p>
          <a:p>
            <a:r>
              <a:rPr lang="en-US" dirty="0"/>
              <a:t>The </a:t>
            </a:r>
            <a:r>
              <a:rPr lang="en-US" b="1" dirty="0"/>
              <a:t>Travel Booking Website </a:t>
            </a:r>
            <a:r>
              <a:rPr lang="en-US" dirty="0"/>
              <a:t>is a PHP-based web application with MySQL as the backend. It is designed to facilitate users in booking </a:t>
            </a:r>
            <a:r>
              <a:rPr lang="en-US" b="1" dirty="0"/>
              <a:t>tours </a:t>
            </a:r>
            <a:r>
              <a:rPr lang="en-US" dirty="0"/>
              <a:t>and </a:t>
            </a:r>
            <a:r>
              <a:rPr lang="en-US" b="1" dirty="0"/>
              <a:t>travel transportation </a:t>
            </a:r>
            <a:r>
              <a:rPr lang="en-US" dirty="0"/>
              <a:t>independently. The system allows user registration, authentication, and interaction with two distinct features: </a:t>
            </a:r>
            <a:r>
              <a:rPr lang="en-US" b="1" dirty="0"/>
              <a:t>Tour Booking </a:t>
            </a:r>
            <a:r>
              <a:rPr lang="en-US" dirty="0"/>
              <a:t>and </a:t>
            </a:r>
            <a:r>
              <a:rPr lang="en-US" b="1" dirty="0"/>
              <a:t>Travel Booking</a:t>
            </a:r>
            <a:r>
              <a:rPr lang="en-US" dirty="0"/>
              <a:t>.</a:t>
            </a:r>
            <a:endParaRPr lang="en-IN" dirty="0"/>
          </a:p>
          <a:p>
            <a:pPr lvl="0"/>
            <a:r>
              <a:rPr lang="en-US" b="1" dirty="0"/>
              <a:t>Project Structure (Files &amp; Modules)</a:t>
            </a:r>
            <a:endParaRPr lang="en-IN" dirty="0"/>
          </a:p>
          <a:p>
            <a:r>
              <a:rPr lang="en-US" dirty="0"/>
              <a:t>All files are organized under the root directory:</a:t>
            </a:r>
            <a:endParaRPr lang="en-IN" dirty="0"/>
          </a:p>
          <a:p>
            <a:r>
              <a:rPr lang="en-US" b="1" dirty="0" err="1"/>
              <a:t>travel_booking_project</a:t>
            </a:r>
            <a:r>
              <a:rPr lang="en-US" b="1" dirty="0"/>
              <a:t>/</a:t>
            </a:r>
            <a:endParaRPr lang="en-IN" dirty="0"/>
          </a:p>
          <a:p>
            <a:endParaRPr lang="en-IN" dirty="0"/>
          </a:p>
        </p:txBody>
      </p:sp>
    </p:spTree>
    <p:extLst>
      <p:ext uri="{BB962C8B-B14F-4D97-AF65-F5344CB8AC3E}">
        <p14:creationId xmlns:p14="http://schemas.microsoft.com/office/powerpoint/2010/main" val="221362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B2B18E-983D-8EAA-A166-131C794D06A8}"/>
              </a:ext>
            </a:extLst>
          </p:cNvPr>
          <p:cNvSpPr>
            <a:spLocks noGrp="1"/>
          </p:cNvSpPr>
          <p:nvPr>
            <p:ph idx="1"/>
          </p:nvPr>
        </p:nvSpPr>
        <p:spPr>
          <a:xfrm>
            <a:off x="685799" y="756745"/>
            <a:ext cx="11285483" cy="5864771"/>
          </a:xfrm>
        </p:spPr>
        <p:txBody>
          <a:bodyPr>
            <a:normAutofit fontScale="62500" lnSpcReduction="20000"/>
          </a:bodyPr>
          <a:lstStyle/>
          <a:p>
            <a:pPr lvl="0"/>
            <a:r>
              <a:rPr lang="en-US" sz="2400" b="1" dirty="0"/>
              <a:t>Module Features</a:t>
            </a:r>
            <a:endParaRPr lang="en-IN" sz="2400" b="1" dirty="0"/>
          </a:p>
          <a:p>
            <a:r>
              <a:rPr lang="en-US" sz="2400" b="1" dirty="0"/>
              <a:t>Home Page </a:t>
            </a:r>
            <a:r>
              <a:rPr lang="en-US" sz="2400" dirty="0"/>
              <a:t>highlights:</a:t>
            </a:r>
            <a:endParaRPr lang="en-IN" sz="1800" dirty="0"/>
          </a:p>
          <a:p>
            <a:pPr lvl="1"/>
            <a:r>
              <a:rPr lang="en-US" i="1" dirty="0"/>
              <a:t>Handpicked Locations</a:t>
            </a:r>
            <a:r>
              <a:rPr lang="en-US" dirty="0"/>
              <a:t>: Tour recommendations pulled from tours table.</a:t>
            </a:r>
            <a:endParaRPr lang="en-IN" sz="1600" dirty="0"/>
          </a:p>
          <a:p>
            <a:pPr lvl="1"/>
            <a:r>
              <a:rPr lang="en-US" i="1" dirty="0"/>
              <a:t>Customer Gallery</a:t>
            </a:r>
            <a:r>
              <a:rPr lang="en-US" dirty="0"/>
              <a:t>: Displays GIFs and travel images.</a:t>
            </a:r>
            <a:endParaRPr lang="en-IN" sz="1600" dirty="0"/>
          </a:p>
          <a:p>
            <a:pPr lvl="1"/>
            <a:r>
              <a:rPr lang="en-US" i="1" dirty="0"/>
              <a:t>Happy Customers</a:t>
            </a:r>
            <a:r>
              <a:rPr lang="en-US" dirty="0"/>
              <a:t>: Pulls 5-star reviews from reviews table.</a:t>
            </a:r>
            <a:endParaRPr lang="en-IN" sz="1600" dirty="0"/>
          </a:p>
          <a:p>
            <a:pPr lvl="1"/>
            <a:r>
              <a:rPr lang="en-US" i="1" dirty="0"/>
              <a:t>Popular Destinations</a:t>
            </a:r>
            <a:r>
              <a:rPr lang="en-US" dirty="0"/>
              <a:t>: Featured tours with direct "Book Now" links.</a:t>
            </a:r>
            <a:endParaRPr lang="en-IN" sz="1600" dirty="0"/>
          </a:p>
          <a:p>
            <a:r>
              <a:rPr lang="en-US" sz="2400" dirty="0"/>
              <a:t> </a:t>
            </a:r>
            <a:endParaRPr lang="en-IN" sz="2400" dirty="0"/>
          </a:p>
          <a:p>
            <a:pPr lvl="0"/>
            <a:r>
              <a:rPr lang="en-US" sz="2400" b="1" dirty="0"/>
              <a:t>Tours Module</a:t>
            </a:r>
            <a:endParaRPr lang="en-IN" sz="1800" dirty="0"/>
          </a:p>
          <a:p>
            <a:pPr lvl="1"/>
            <a:r>
              <a:rPr lang="en-US" b="1" dirty="0"/>
              <a:t>Tours Page </a:t>
            </a:r>
            <a:r>
              <a:rPr lang="en-US" dirty="0"/>
              <a:t>(</a:t>
            </a:r>
            <a:r>
              <a:rPr lang="en-US" dirty="0" err="1"/>
              <a:t>tours.php</a:t>
            </a:r>
            <a:r>
              <a:rPr lang="en-US" dirty="0"/>
              <a:t>):</a:t>
            </a:r>
            <a:endParaRPr lang="en-IN" sz="1600" dirty="0"/>
          </a:p>
          <a:p>
            <a:pPr lvl="2"/>
            <a:r>
              <a:rPr lang="en-US" dirty="0"/>
              <a:t>Lists all available tours.</a:t>
            </a:r>
            <a:endParaRPr lang="en-IN" sz="1400" dirty="0"/>
          </a:p>
          <a:p>
            <a:pPr lvl="2"/>
            <a:r>
              <a:rPr lang="en-US" dirty="0"/>
              <a:t>Clicking "Book Now" redirects to </a:t>
            </a:r>
            <a:r>
              <a:rPr lang="en-US" dirty="0" err="1"/>
              <a:t>tour_booking.php</a:t>
            </a:r>
            <a:r>
              <a:rPr lang="en-US" dirty="0"/>
              <a:t>.</a:t>
            </a:r>
            <a:endParaRPr lang="en-IN" sz="1400" dirty="0"/>
          </a:p>
          <a:p>
            <a:pPr lvl="1"/>
            <a:r>
              <a:rPr lang="en-US" b="1" dirty="0"/>
              <a:t>Tour Booking Page</a:t>
            </a:r>
            <a:r>
              <a:rPr lang="en-US" dirty="0"/>
              <a:t>:</a:t>
            </a:r>
            <a:endParaRPr lang="en-IN" sz="1600" dirty="0"/>
          </a:p>
          <a:p>
            <a:pPr lvl="2"/>
            <a:r>
              <a:rPr lang="en-US" dirty="0"/>
              <a:t>Tour details shown.</a:t>
            </a:r>
            <a:endParaRPr lang="en-IN" sz="1400" dirty="0"/>
          </a:p>
          <a:p>
            <a:pPr lvl="2"/>
            <a:r>
              <a:rPr lang="en-US" dirty="0"/>
              <a:t>User can confirm booking and submit a review.</a:t>
            </a:r>
            <a:endParaRPr lang="en-IN" sz="1400" dirty="0"/>
          </a:p>
          <a:p>
            <a:pPr lvl="2"/>
            <a:r>
              <a:rPr lang="en-US" dirty="0"/>
              <a:t>Data is stored in </a:t>
            </a:r>
            <a:r>
              <a:rPr lang="en-US" dirty="0" err="1"/>
              <a:t>tour_bookings</a:t>
            </a:r>
            <a:r>
              <a:rPr lang="en-US" dirty="0"/>
              <a:t> and reviews.</a:t>
            </a:r>
            <a:endParaRPr lang="en-IN" sz="1400" dirty="0"/>
          </a:p>
          <a:p>
            <a:pPr lvl="0"/>
            <a:r>
              <a:rPr lang="en-US" sz="2400" b="1" dirty="0"/>
              <a:t>Travel Module</a:t>
            </a:r>
            <a:endParaRPr lang="en-IN" sz="1800" dirty="0"/>
          </a:p>
          <a:p>
            <a:pPr lvl="1"/>
            <a:r>
              <a:rPr lang="en-US" b="1" dirty="0"/>
              <a:t>Travel Booking Page </a:t>
            </a:r>
            <a:r>
              <a:rPr lang="en-US" dirty="0"/>
              <a:t>(</a:t>
            </a:r>
            <a:r>
              <a:rPr lang="en-US" dirty="0" err="1"/>
              <a:t>travel_booking.php</a:t>
            </a:r>
            <a:r>
              <a:rPr lang="en-US" dirty="0"/>
              <a:t>):</a:t>
            </a:r>
            <a:endParaRPr lang="en-IN" sz="1600" dirty="0"/>
          </a:p>
          <a:p>
            <a:pPr lvl="2"/>
            <a:r>
              <a:rPr lang="en-US" dirty="0"/>
              <a:t>User selects mode: Bus, Train, or Plane.</a:t>
            </a:r>
            <a:endParaRPr lang="en-IN" sz="1400" dirty="0"/>
          </a:p>
          <a:p>
            <a:pPr lvl="2"/>
            <a:r>
              <a:rPr lang="en-US" dirty="0"/>
              <a:t>Enters source, destination, and travel date.</a:t>
            </a:r>
            <a:endParaRPr lang="en-IN" sz="1400" dirty="0"/>
          </a:p>
          <a:p>
            <a:pPr lvl="2"/>
            <a:r>
              <a:rPr lang="en-US" dirty="0"/>
              <a:t>Available transport options are fetched from </a:t>
            </a:r>
            <a:r>
              <a:rPr lang="en-US" dirty="0" err="1"/>
              <a:t>availabletransports</a:t>
            </a:r>
            <a:r>
              <a:rPr lang="en-US" dirty="0"/>
              <a:t>.</a:t>
            </a:r>
            <a:endParaRPr lang="en-IN" sz="1400" dirty="0"/>
          </a:p>
          <a:p>
            <a:pPr lvl="2"/>
            <a:r>
              <a:rPr lang="en-US" dirty="0"/>
              <a:t>User selects one and books it.</a:t>
            </a:r>
            <a:endParaRPr lang="en-IN" sz="1400" dirty="0"/>
          </a:p>
          <a:p>
            <a:pPr lvl="2"/>
            <a:r>
              <a:rPr lang="en-US" dirty="0"/>
              <a:t>Booking details are stored in </a:t>
            </a:r>
            <a:r>
              <a:rPr lang="en-US" dirty="0" err="1"/>
              <a:t>travel_bookings</a:t>
            </a:r>
            <a:r>
              <a:rPr lang="en-US" dirty="0"/>
              <a:t>.</a:t>
            </a:r>
            <a:endParaRPr lang="en-IN" sz="1400" dirty="0"/>
          </a:p>
          <a:p>
            <a:pPr lvl="1"/>
            <a:r>
              <a:rPr lang="en-US" b="1" dirty="0"/>
              <a:t>Tour and Travel Booking Success</a:t>
            </a:r>
            <a:r>
              <a:rPr lang="en-US" dirty="0"/>
              <a:t>:</a:t>
            </a:r>
            <a:endParaRPr lang="en-IN" sz="1600" dirty="0"/>
          </a:p>
          <a:p>
            <a:pPr lvl="2"/>
            <a:r>
              <a:rPr lang="en-US" dirty="0"/>
              <a:t>Displays all booking information upon confirmation.</a:t>
            </a:r>
            <a:endParaRPr lang="en-IN" sz="1400" dirty="0"/>
          </a:p>
          <a:p>
            <a:pPr lvl="0"/>
            <a:r>
              <a:rPr lang="en-US" sz="2400" b="1" dirty="0"/>
              <a:t>Common Pages</a:t>
            </a:r>
            <a:endParaRPr lang="en-IN" sz="1800" dirty="0"/>
          </a:p>
          <a:p>
            <a:pPr lvl="1"/>
            <a:r>
              <a:rPr lang="en-US" b="1" dirty="0"/>
              <a:t>Login/Registration</a:t>
            </a:r>
            <a:r>
              <a:rPr lang="en-US" dirty="0"/>
              <a:t>: Stored in users table.</a:t>
            </a:r>
            <a:endParaRPr lang="en-IN" sz="1600" dirty="0"/>
          </a:p>
          <a:p>
            <a:r>
              <a:rPr lang="en-US" sz="2400" dirty="0"/>
              <a:t> </a:t>
            </a:r>
            <a:endParaRPr lang="en-IN" sz="2400" dirty="0"/>
          </a:p>
          <a:p>
            <a:endParaRPr lang="en-IN" dirty="0"/>
          </a:p>
        </p:txBody>
      </p:sp>
    </p:spTree>
    <p:extLst>
      <p:ext uri="{BB962C8B-B14F-4D97-AF65-F5344CB8AC3E}">
        <p14:creationId xmlns:p14="http://schemas.microsoft.com/office/powerpoint/2010/main" val="1458243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3257998-09BC-06FE-0AE7-53784E16C76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1253" y="798787"/>
            <a:ext cx="10181535" cy="5408941"/>
          </a:xfrm>
          <a:prstGeom prst="rect">
            <a:avLst/>
          </a:prstGeom>
          <a:noFill/>
          <a:ln>
            <a:noFill/>
          </a:ln>
        </p:spPr>
      </p:pic>
    </p:spTree>
    <p:extLst>
      <p:ext uri="{BB962C8B-B14F-4D97-AF65-F5344CB8AC3E}">
        <p14:creationId xmlns:p14="http://schemas.microsoft.com/office/powerpoint/2010/main" val="172231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E348-4500-3AD1-7133-D4E1AD236AC8}"/>
              </a:ext>
            </a:extLst>
          </p:cNvPr>
          <p:cNvSpPr>
            <a:spLocks noGrp="1"/>
          </p:cNvSpPr>
          <p:nvPr>
            <p:ph idx="1"/>
          </p:nvPr>
        </p:nvSpPr>
        <p:spPr>
          <a:xfrm>
            <a:off x="685800" y="462456"/>
            <a:ext cx="10820400" cy="5756230"/>
          </a:xfrm>
        </p:spPr>
        <p:txBody>
          <a:bodyPr>
            <a:normAutofit fontScale="92500" lnSpcReduction="20000"/>
          </a:bodyPr>
          <a:lstStyle/>
          <a:p>
            <a:pPr marL="0" indent="0">
              <a:buNone/>
            </a:pPr>
            <a:endParaRPr lang="en-IN" sz="1800" dirty="0"/>
          </a:p>
          <a:p>
            <a:pPr lvl="0"/>
            <a:r>
              <a:rPr lang="en-US" sz="2400" b="1" dirty="0"/>
              <a:t>Integration and Testing</a:t>
            </a:r>
            <a:endParaRPr lang="en-IN" sz="2400" b="1" dirty="0"/>
          </a:p>
          <a:p>
            <a:pPr lvl="1"/>
            <a:r>
              <a:rPr lang="en-US" b="1" dirty="0"/>
              <a:t>Integration Description</a:t>
            </a:r>
            <a:endParaRPr lang="en-IN" sz="1600" dirty="0"/>
          </a:p>
          <a:p>
            <a:r>
              <a:rPr lang="en-US" sz="2400" dirty="0"/>
              <a:t>Since </a:t>
            </a:r>
            <a:r>
              <a:rPr lang="en-US" sz="2400" i="1" dirty="0"/>
              <a:t>Tour Booking </a:t>
            </a:r>
            <a:r>
              <a:rPr lang="en-US" sz="2400" dirty="0"/>
              <a:t>and </a:t>
            </a:r>
            <a:r>
              <a:rPr lang="en-US" sz="2400" i="1" dirty="0"/>
              <a:t>Travel Booking </a:t>
            </a:r>
            <a:r>
              <a:rPr lang="en-US" sz="2400" dirty="0"/>
              <a:t>are independent modules, integration is minimal:</a:t>
            </a:r>
            <a:endParaRPr lang="en-IN" sz="1800" dirty="0"/>
          </a:p>
          <a:p>
            <a:pPr lvl="0"/>
            <a:r>
              <a:rPr lang="en-US" sz="2400" b="1" dirty="0"/>
              <a:t>User Authentication Integration</a:t>
            </a:r>
            <a:endParaRPr lang="en-IN" sz="1800" dirty="0"/>
          </a:p>
          <a:p>
            <a:pPr lvl="1"/>
            <a:r>
              <a:rPr lang="en-US" dirty="0"/>
              <a:t>Users must log in or register (users table) to access bookings.</a:t>
            </a:r>
            <a:endParaRPr lang="en-IN" sz="1600" dirty="0"/>
          </a:p>
          <a:p>
            <a:pPr lvl="1"/>
            <a:r>
              <a:rPr lang="en-US" dirty="0"/>
              <a:t>Shared login session allows access to both modules.</a:t>
            </a:r>
            <a:endParaRPr lang="en-IN" sz="1600" dirty="0"/>
          </a:p>
          <a:p>
            <a:pPr lvl="0"/>
            <a:r>
              <a:rPr lang="en-US" sz="2400" b="1" dirty="0"/>
              <a:t>Tour Booking Flow</a:t>
            </a:r>
            <a:endParaRPr lang="en-IN" sz="1800" dirty="0"/>
          </a:p>
          <a:p>
            <a:pPr lvl="1"/>
            <a:r>
              <a:rPr lang="en-US" dirty="0"/>
              <a:t>Navigation:	</a:t>
            </a:r>
            <a:r>
              <a:rPr lang="en-US" dirty="0" err="1"/>
              <a:t>home.php</a:t>
            </a:r>
            <a:r>
              <a:rPr lang="en-US" dirty="0"/>
              <a:t>	→	</a:t>
            </a:r>
            <a:r>
              <a:rPr lang="en-US" dirty="0" err="1"/>
              <a:t>tours.php</a:t>
            </a:r>
            <a:r>
              <a:rPr lang="en-US" dirty="0"/>
              <a:t>	→	</a:t>
            </a:r>
            <a:r>
              <a:rPr lang="en-US" dirty="0" err="1"/>
              <a:t>tour_booking.php</a:t>
            </a:r>
            <a:r>
              <a:rPr lang="en-US" dirty="0"/>
              <a:t>	→ </a:t>
            </a:r>
            <a:r>
              <a:rPr lang="en-US" dirty="0" err="1"/>
              <a:t>tour_booking_success.php</a:t>
            </a:r>
            <a:endParaRPr lang="en-IN" sz="1600" dirty="0"/>
          </a:p>
          <a:p>
            <a:pPr lvl="1"/>
            <a:r>
              <a:rPr lang="en-US" dirty="0"/>
              <a:t>Data Flow:</a:t>
            </a:r>
            <a:endParaRPr lang="en-IN" sz="1600" dirty="0"/>
          </a:p>
          <a:p>
            <a:pPr lvl="2"/>
            <a:r>
              <a:rPr lang="en-US" dirty="0"/>
              <a:t>Tour data: tours table</a:t>
            </a:r>
            <a:endParaRPr lang="en-IN" sz="1400" dirty="0"/>
          </a:p>
          <a:p>
            <a:pPr lvl="2"/>
            <a:r>
              <a:rPr lang="en-US" dirty="0"/>
              <a:t>Booking: </a:t>
            </a:r>
            <a:r>
              <a:rPr lang="en-US" dirty="0" err="1"/>
              <a:t>tour_bookings</a:t>
            </a:r>
            <a:endParaRPr lang="en-IN" sz="1400" dirty="0"/>
          </a:p>
          <a:p>
            <a:pPr lvl="2"/>
            <a:r>
              <a:rPr lang="en-US" dirty="0"/>
              <a:t>Reviews: reviews</a:t>
            </a:r>
            <a:endParaRPr lang="en-IN" sz="2400" dirty="0"/>
          </a:p>
          <a:p>
            <a:pPr lvl="0"/>
            <a:r>
              <a:rPr lang="en-US" sz="2400" b="1" dirty="0"/>
              <a:t>Travel Booking Flow</a:t>
            </a:r>
            <a:endParaRPr lang="en-IN" sz="1800" dirty="0"/>
          </a:p>
          <a:p>
            <a:pPr lvl="1"/>
            <a:r>
              <a:rPr lang="en-US" dirty="0"/>
              <a:t>Navigation: </a:t>
            </a:r>
            <a:r>
              <a:rPr lang="en-US" dirty="0" err="1"/>
              <a:t>home.php</a:t>
            </a:r>
            <a:r>
              <a:rPr lang="en-US" dirty="0"/>
              <a:t> → </a:t>
            </a:r>
            <a:r>
              <a:rPr lang="en-US" dirty="0" err="1"/>
              <a:t>travel_booking.php</a:t>
            </a:r>
            <a:r>
              <a:rPr lang="en-US" dirty="0"/>
              <a:t> → </a:t>
            </a:r>
            <a:r>
              <a:rPr lang="en-US" dirty="0" err="1"/>
              <a:t>travel_booking_success.php</a:t>
            </a:r>
            <a:endParaRPr lang="en-IN" sz="1600" dirty="0"/>
          </a:p>
          <a:p>
            <a:pPr lvl="1"/>
            <a:r>
              <a:rPr lang="en-US" dirty="0"/>
              <a:t>Data Flow:</a:t>
            </a:r>
            <a:endParaRPr lang="en-IN" sz="1600" dirty="0"/>
          </a:p>
          <a:p>
            <a:pPr lvl="2"/>
            <a:r>
              <a:rPr lang="en-US" dirty="0"/>
              <a:t>Transport options: </a:t>
            </a:r>
            <a:r>
              <a:rPr lang="en-US" dirty="0" err="1"/>
              <a:t>availabletransports</a:t>
            </a:r>
            <a:endParaRPr lang="en-IN" sz="1400" dirty="0"/>
          </a:p>
          <a:p>
            <a:pPr lvl="2"/>
            <a:r>
              <a:rPr lang="en-US" dirty="0"/>
              <a:t>Booking: </a:t>
            </a:r>
            <a:r>
              <a:rPr lang="en-US" dirty="0" err="1"/>
              <a:t>travel_bookings</a:t>
            </a:r>
            <a:endParaRPr lang="en-IN" sz="1400" dirty="0"/>
          </a:p>
          <a:p>
            <a:pPr marL="0" indent="0">
              <a:buNone/>
            </a:pPr>
            <a:endParaRPr lang="en-IN" sz="2400" dirty="0"/>
          </a:p>
          <a:p>
            <a:endParaRPr lang="en-IN" dirty="0"/>
          </a:p>
        </p:txBody>
      </p:sp>
    </p:spTree>
    <p:extLst>
      <p:ext uri="{BB962C8B-B14F-4D97-AF65-F5344CB8AC3E}">
        <p14:creationId xmlns:p14="http://schemas.microsoft.com/office/powerpoint/2010/main" val="401119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3BA7A-7C96-052C-830C-E8570CC5D527}"/>
              </a:ext>
            </a:extLst>
          </p:cNvPr>
          <p:cNvSpPr>
            <a:spLocks noGrp="1"/>
          </p:cNvSpPr>
          <p:nvPr>
            <p:ph idx="1"/>
          </p:nvPr>
        </p:nvSpPr>
        <p:spPr>
          <a:xfrm>
            <a:off x="685800" y="388884"/>
            <a:ext cx="10820400" cy="5829802"/>
          </a:xfrm>
        </p:spPr>
        <p:txBody>
          <a:bodyPr>
            <a:normAutofit fontScale="77500" lnSpcReduction="20000"/>
          </a:bodyPr>
          <a:lstStyle/>
          <a:p>
            <a:pPr lvl="0"/>
            <a:r>
              <a:rPr lang="en-US" sz="2400" b="1" dirty="0"/>
              <a:t>Performance Analysis</a:t>
            </a:r>
            <a:endParaRPr lang="en-IN" sz="2400" b="1" dirty="0"/>
          </a:p>
          <a:p>
            <a:pPr lvl="1"/>
            <a:r>
              <a:rPr lang="en-US" dirty="0"/>
              <a:t>Centralized Booking Management:</a:t>
            </a:r>
            <a:endParaRPr lang="en-IN" sz="1600" dirty="0"/>
          </a:p>
          <a:p>
            <a:r>
              <a:rPr lang="en-US" sz="2400" dirty="0"/>
              <a:t>Integrates various transportation services (e.g., private vehicles, buses) into a single system, minimizing complexity and time for both users and administrators.</a:t>
            </a:r>
            <a:endParaRPr lang="en-IN" sz="2400" dirty="0"/>
          </a:p>
          <a:p>
            <a:pPr lvl="1"/>
            <a:r>
              <a:rPr lang="en-US" dirty="0"/>
              <a:t>User Experience Optimization:</a:t>
            </a:r>
            <a:endParaRPr lang="en-IN" sz="1600" dirty="0"/>
          </a:p>
          <a:p>
            <a:r>
              <a:rPr lang="en-US" sz="2400" dirty="0"/>
              <a:t>Smooth and responsive user interface enables users to search, book, and manage their travel plans efficiently.</a:t>
            </a:r>
            <a:endParaRPr lang="en-IN" sz="2400" dirty="0"/>
          </a:p>
          <a:p>
            <a:pPr lvl="1"/>
            <a:r>
              <a:rPr lang="en-US" dirty="0"/>
              <a:t>Load Handling Capability:</a:t>
            </a:r>
            <a:endParaRPr lang="en-IN" sz="1600" dirty="0"/>
          </a:p>
          <a:p>
            <a:r>
              <a:rPr lang="en-US" sz="2400" dirty="0"/>
              <a:t>Backend architecture supports concurrent user access without significant drops in performance, using optimized database queries and server-side scripting.</a:t>
            </a:r>
            <a:endParaRPr lang="en-IN" sz="2400" dirty="0"/>
          </a:p>
          <a:p>
            <a:pPr lvl="1"/>
            <a:r>
              <a:rPr lang="en-US" dirty="0"/>
              <a:t>Data Accuracy &amp; Consistency:</a:t>
            </a:r>
            <a:endParaRPr lang="en-IN" sz="1600" dirty="0"/>
          </a:p>
          <a:p>
            <a:r>
              <a:rPr lang="en-US" sz="2400" dirty="0"/>
              <a:t>Reduces human error by automating data validation during booking and registration processes.</a:t>
            </a:r>
            <a:endParaRPr lang="en-IN" sz="2400" dirty="0"/>
          </a:p>
          <a:p>
            <a:pPr lvl="1"/>
            <a:r>
              <a:rPr lang="en-US" dirty="0"/>
              <a:t>Security Measures:</a:t>
            </a:r>
            <a:endParaRPr lang="en-IN" sz="1600" dirty="0"/>
          </a:p>
          <a:p>
            <a:r>
              <a:rPr lang="en-US" sz="2400" dirty="0"/>
              <a:t>Utilizes secure authentication, encrypted payments, and role-based access (Admin, User, </a:t>
            </a:r>
            <a:r>
              <a:rPr lang="en-US" sz="2400" dirty="0" err="1"/>
              <a:t>Registrerer</a:t>
            </a:r>
            <a:r>
              <a:rPr lang="en-US" sz="2400" dirty="0"/>
              <a:t>) to protect user data and system integrity.</a:t>
            </a:r>
            <a:endParaRPr lang="en-IN" sz="2400" dirty="0"/>
          </a:p>
          <a:p>
            <a:pPr lvl="1"/>
            <a:r>
              <a:rPr lang="en-US" dirty="0"/>
              <a:t>System Maintainability:</a:t>
            </a:r>
            <a:endParaRPr lang="en-IN" sz="1600" dirty="0"/>
          </a:p>
          <a:p>
            <a:r>
              <a:rPr lang="en-US" sz="2400" dirty="0"/>
              <a:t>Modular code structure and clean database schema make the system easier to update, debug, and scale as new features are added.</a:t>
            </a:r>
            <a:endParaRPr lang="en-IN" sz="2400" dirty="0"/>
          </a:p>
          <a:p>
            <a:pPr lvl="1"/>
            <a:r>
              <a:rPr lang="en-US" dirty="0"/>
              <a:t>Analytics &amp; Monitoring:</a:t>
            </a:r>
            <a:endParaRPr lang="en-IN" sz="1600" dirty="0"/>
          </a:p>
          <a:p>
            <a:r>
              <a:rPr lang="en-US" sz="2400" dirty="0"/>
              <a:t>Capable of tracking usage metrics (number of bookings, peak hours, routes in demand) to help administrators make data-driven decisions.</a:t>
            </a:r>
            <a:endParaRPr lang="en-IN" sz="2400" dirty="0"/>
          </a:p>
          <a:p>
            <a:endParaRPr lang="en-IN" dirty="0"/>
          </a:p>
        </p:txBody>
      </p:sp>
    </p:spTree>
    <p:extLst>
      <p:ext uri="{BB962C8B-B14F-4D97-AF65-F5344CB8AC3E}">
        <p14:creationId xmlns:p14="http://schemas.microsoft.com/office/powerpoint/2010/main" val="3487704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17</TotalTime>
  <Words>1254</Words>
  <Application>Microsoft Office PowerPoint</Application>
  <PresentationFormat>Widescreen</PresentationFormat>
  <Paragraphs>122</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Century Gothic</vt:lpstr>
      <vt:lpstr>Vapor Trail</vt:lpstr>
      <vt:lpstr>TRAVEL BOOKING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Sameer Hawal</dc:creator>
  <cp:lastModifiedBy>Sameer Hawal</cp:lastModifiedBy>
  <cp:revision>1</cp:revision>
  <dcterms:created xsi:type="dcterms:W3CDTF">2025-06-04T08:44:47Z</dcterms:created>
  <dcterms:modified xsi:type="dcterms:W3CDTF">2025-06-04T09:02:21Z</dcterms:modified>
</cp:coreProperties>
</file>